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72" r:id="rId9"/>
    <p:sldId id="273" r:id="rId10"/>
    <p:sldId id="274" r:id="rId11"/>
    <p:sldId id="275" r:id="rId12"/>
    <p:sldId id="276" r:id="rId13"/>
    <p:sldId id="262" r:id="rId14"/>
    <p:sldId id="263" r:id="rId15"/>
    <p:sldId id="264" r:id="rId16"/>
    <p:sldId id="265" r:id="rId17"/>
    <p:sldId id="267" r:id="rId18"/>
    <p:sldId id="270" r:id="rId19"/>
    <p:sldId id="271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63"/>
    <p:restoredTop sz="94709"/>
  </p:normalViewPr>
  <p:slideViewPr>
    <p:cSldViewPr snapToGrid="0">
      <p:cViewPr varScale="1">
        <p:scale>
          <a:sx n="35" d="100"/>
          <a:sy n="35" d="100"/>
        </p:scale>
        <p:origin x="208" y="1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D7FA46-E450-5D41-8CEA-627A587E628E}" type="datetimeFigureOut">
              <a:rPr lang="en-US" smtClean="0"/>
              <a:t>6/29/26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397048-CA99-6240-A9FC-22EB38B79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592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397048-CA99-6240-A9FC-22EB38B7947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130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EC79-2226-C242-82D6-6AAA621326A8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10DF544-AAB3-0847-9B96-AA5D9A388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556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EC79-2226-C242-82D6-6AAA621326A8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DF544-AAB3-0847-9B96-AA5D9A388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886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EC79-2226-C242-82D6-6AAA621326A8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10DF544-AAB3-0847-9B96-AA5D9A388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89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EC79-2226-C242-82D6-6AAA621326A8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10DF544-AAB3-0847-9B96-AA5D9A388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452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EC79-2226-C242-82D6-6AAA621326A8}" type="datetimeFigureOut">
              <a:rPr lang="en-US" smtClean="0"/>
              <a:t>6/29/26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10DF544-AAB3-0847-9B96-AA5D9A388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115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EC79-2226-C242-82D6-6AAA621326A8}" type="datetimeFigureOut">
              <a:rPr lang="en-US" smtClean="0"/>
              <a:t>6/29/26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DF544-AAB3-0847-9B96-AA5D9A388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882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EC79-2226-C242-82D6-6AAA621326A8}" type="datetimeFigureOut">
              <a:rPr lang="en-US" smtClean="0"/>
              <a:t>6/29/26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DF544-AAB3-0847-9B96-AA5D9A388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93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EC79-2226-C242-82D6-6AAA621326A8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DF544-AAB3-0847-9B96-AA5D9A388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714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EC79-2226-C242-82D6-6AAA621326A8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10DF544-AAB3-0847-9B96-AA5D9A388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942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EC79-2226-C242-82D6-6AAA621326A8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10DF544-AAB3-0847-9B96-AA5D9A388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801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EC79-2226-C242-82D6-6AAA621326A8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10DF544-AAB3-0847-9B96-AA5D9A3881C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013761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EC79-2226-C242-82D6-6AAA621326A8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10DF544-AAB3-0847-9B96-AA5D9A388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6916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EC79-2226-C242-82D6-6AAA621326A8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10DF544-AAB3-0847-9B96-AA5D9A3881CC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51131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EC79-2226-C242-82D6-6AAA621326A8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10DF544-AAB3-0847-9B96-AA5D9A388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0971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EC79-2226-C242-82D6-6AAA621326A8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DF544-AAB3-0847-9B96-AA5D9A388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7139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EC79-2226-C242-82D6-6AAA621326A8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DF544-AAB3-0847-9B96-AA5D9A388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937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77EC79-2226-C242-82D6-6AAA621326A8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10DF544-AAB3-0847-9B96-AA5D9A388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102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B9089-7207-B882-8D6C-C00379D387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421"/>
            <a:ext cx="8522825" cy="1498600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TUGAS BESAR PEMROGRAMAN WEB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5B72EC-C64C-43E7-6119-0CFB190DA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32344" y="1603021"/>
            <a:ext cx="9043686" cy="5642659"/>
          </a:xfrm>
        </p:spPr>
        <p:txBody>
          <a:bodyPr>
            <a:noAutofit/>
          </a:bodyPr>
          <a:lstStyle/>
          <a:p>
            <a:pPr algn="ctr"/>
            <a:r>
              <a:rPr lang="en-US" sz="1600" b="1" i="1" dirty="0"/>
              <a:t> </a:t>
            </a:r>
            <a:r>
              <a:rPr lang="en-US" sz="1600" b="1" dirty="0"/>
              <a:t>SISTEM INFORMASI BOOKING LAPANGAN OLAHRAGA </a:t>
            </a:r>
          </a:p>
          <a:p>
            <a:pPr algn="ctr"/>
            <a:r>
              <a:rPr lang="en-US" sz="1600" b="1" dirty="0"/>
              <a:t>BERBASIS WEB (PADEL , FUTSAL, DAN BADMINTON)</a:t>
            </a:r>
          </a:p>
          <a:p>
            <a:endParaRPr lang="en-US" sz="1600" dirty="0"/>
          </a:p>
          <a:p>
            <a:r>
              <a:rPr lang="en-US" sz="1600" dirty="0" err="1"/>
              <a:t>Disusun</a:t>
            </a:r>
            <a:r>
              <a:rPr lang="en-US" sz="1600" dirty="0"/>
              <a:t> Oleh: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Muhammad </a:t>
            </a:r>
            <a:r>
              <a:rPr lang="en-US" sz="1600" dirty="0" err="1"/>
              <a:t>Sodais</a:t>
            </a:r>
            <a:r>
              <a:rPr lang="en-US" sz="1600" dirty="0"/>
              <a:t> Adam (2403015030)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Muhammad </a:t>
            </a:r>
            <a:r>
              <a:rPr lang="en-US" sz="1600" dirty="0" err="1"/>
              <a:t>Izra</a:t>
            </a:r>
            <a:r>
              <a:rPr lang="en-US" sz="1600" dirty="0"/>
              <a:t> Al </a:t>
            </a:r>
            <a:r>
              <a:rPr lang="en-US" sz="1600" dirty="0" err="1"/>
              <a:t>Ayubi</a:t>
            </a:r>
            <a:r>
              <a:rPr lang="en-US" sz="1600" dirty="0"/>
              <a:t>   (2403015116)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Ahmad Ziaul Hal Al Azizi.     (2403015012)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Muhammad An </a:t>
            </a:r>
            <a:r>
              <a:rPr lang="en-US" sz="1600" dirty="0" err="1"/>
              <a:t>Nafi</a:t>
            </a:r>
            <a:r>
              <a:rPr lang="en-US" sz="1600" dirty="0"/>
              <a:t>           (2403015101)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b="1" dirty="0" err="1"/>
              <a:t>Dosen</a:t>
            </a:r>
            <a:r>
              <a:rPr lang="en-US" sz="1600" b="1" dirty="0"/>
              <a:t> </a:t>
            </a:r>
            <a:r>
              <a:rPr lang="en-US" sz="1600" b="1" dirty="0" err="1"/>
              <a:t>Pengampu</a:t>
            </a:r>
            <a:r>
              <a:rPr lang="en-US" sz="1600" dirty="0"/>
              <a:t>:</a:t>
            </a:r>
          </a:p>
          <a:p>
            <a:r>
              <a:rPr lang="en-US" sz="1600" dirty="0" err="1"/>
              <a:t>Akhmad</a:t>
            </a:r>
            <a:r>
              <a:rPr lang="en-US" sz="1600" dirty="0"/>
              <a:t> Rizal </a:t>
            </a:r>
            <a:r>
              <a:rPr lang="en-US" sz="1600" dirty="0" err="1"/>
              <a:t>Dzikrillah</a:t>
            </a:r>
            <a:r>
              <a:rPr lang="en-US" sz="1600" dirty="0"/>
              <a:t>, S.T., M.TI.</a:t>
            </a:r>
          </a:p>
          <a:p>
            <a:endParaRPr lang="en-US" sz="1600" dirty="0"/>
          </a:p>
          <a:p>
            <a:r>
              <a:rPr lang="en-US" sz="1600" b="1" dirty="0"/>
              <a:t>Program </a:t>
            </a:r>
            <a:r>
              <a:rPr lang="en-US" sz="1600" b="1" dirty="0" err="1"/>
              <a:t>Studi</a:t>
            </a:r>
            <a:r>
              <a:rPr lang="en-US" sz="1600" b="1" dirty="0"/>
              <a:t>: Teknik </a:t>
            </a:r>
            <a:r>
              <a:rPr lang="en-US" sz="1600" b="1" dirty="0" err="1"/>
              <a:t>Informatika</a:t>
            </a:r>
            <a:endParaRPr lang="en-US" sz="1600" b="1" dirty="0"/>
          </a:p>
          <a:p>
            <a:r>
              <a:rPr lang="en-US" sz="1600" dirty="0"/>
              <a:t>Universitas Muhammadiyah Prof. Dr. </a:t>
            </a:r>
            <a:r>
              <a:rPr lang="en-US" sz="1600" dirty="0" err="1"/>
              <a:t>Hamka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56038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0142F-6A57-5C48-465B-5F50DC436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0614" y="635399"/>
            <a:ext cx="8911687" cy="1280890"/>
          </a:xfrm>
        </p:spPr>
        <p:txBody>
          <a:bodyPr/>
          <a:lstStyle/>
          <a:p>
            <a:r>
              <a:rPr lang="en-US" dirty="0"/>
              <a:t>LATAR BELAKANG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0079C-31CB-9598-B315-469E347A1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012" y="1735313"/>
            <a:ext cx="10515600" cy="3206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Latar</a:t>
            </a:r>
            <a:r>
              <a:rPr lang="en-US" dirty="0"/>
              <a:t> </a:t>
            </a:r>
            <a:r>
              <a:rPr lang="en-US" dirty="0" err="1"/>
              <a:t>Belakang</a:t>
            </a:r>
            <a:endParaRPr lang="en-US" dirty="0"/>
          </a:p>
          <a:p>
            <a:r>
              <a:rPr lang="en-US" dirty="0"/>
              <a:t>Proses </a:t>
            </a:r>
            <a:r>
              <a:rPr lang="en-US" dirty="0" err="1"/>
              <a:t>pemesanan</a:t>
            </a:r>
            <a:r>
              <a:rPr lang="en-US" dirty="0"/>
              <a:t> </a:t>
            </a:r>
            <a:r>
              <a:rPr lang="en-US" dirty="0" err="1"/>
              <a:t>lapangan</a:t>
            </a:r>
            <a:r>
              <a:rPr lang="en-US" dirty="0"/>
              <a:t> </a:t>
            </a:r>
            <a:r>
              <a:rPr lang="en-US" dirty="0" err="1"/>
              <a:t>masih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manual</a:t>
            </a:r>
          </a:p>
          <a:p>
            <a:r>
              <a:rPr lang="en-US" dirty="0" err="1"/>
              <a:t>Sulit</a:t>
            </a:r>
            <a:r>
              <a:rPr lang="en-US" dirty="0"/>
              <a:t> </a:t>
            </a:r>
            <a:r>
              <a:rPr lang="en-US" dirty="0" err="1"/>
              <a:t>mengetahui</a:t>
            </a:r>
            <a:r>
              <a:rPr lang="en-US" dirty="0"/>
              <a:t> </a:t>
            </a:r>
            <a:r>
              <a:rPr lang="en-US" dirty="0" err="1"/>
              <a:t>jadwal</a:t>
            </a:r>
            <a:r>
              <a:rPr lang="en-US" dirty="0"/>
              <a:t> </a:t>
            </a:r>
            <a:r>
              <a:rPr lang="en-US" dirty="0" err="1"/>
              <a:t>lapangan</a:t>
            </a:r>
            <a:r>
              <a:rPr lang="en-US" dirty="0"/>
              <a:t> yang </a:t>
            </a:r>
            <a:r>
              <a:rPr lang="en-US" dirty="0" err="1"/>
              <a:t>tersedia</a:t>
            </a:r>
            <a:endParaRPr lang="en-US" dirty="0"/>
          </a:p>
          <a:p>
            <a:r>
              <a:rPr lang="en-US" dirty="0" err="1"/>
              <a:t>Risiko</a:t>
            </a:r>
            <a:r>
              <a:rPr lang="en-US" dirty="0"/>
              <a:t> </a:t>
            </a:r>
            <a:r>
              <a:rPr lang="en-US" dirty="0" err="1"/>
              <a:t>bentrok</a:t>
            </a:r>
            <a:r>
              <a:rPr lang="en-US" dirty="0"/>
              <a:t> </a:t>
            </a:r>
            <a:r>
              <a:rPr lang="en-US" dirty="0" err="1"/>
              <a:t>jadwal</a:t>
            </a:r>
            <a:r>
              <a:rPr lang="en-US" dirty="0"/>
              <a:t> </a:t>
            </a:r>
            <a:r>
              <a:rPr lang="en-US" dirty="0" err="1"/>
              <a:t>cukup</a:t>
            </a:r>
            <a:r>
              <a:rPr lang="en-US" dirty="0"/>
              <a:t> </a:t>
            </a:r>
            <a:r>
              <a:rPr lang="en-US" dirty="0" err="1"/>
              <a:t>tinggi</a:t>
            </a:r>
            <a:endParaRPr lang="en-US" dirty="0"/>
          </a:p>
          <a:p>
            <a:r>
              <a:rPr lang="en-US" dirty="0" err="1"/>
              <a:t>Dibutuhkan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reservasi</a:t>
            </a:r>
            <a:r>
              <a:rPr lang="en-US" dirty="0"/>
              <a:t> online yang </a:t>
            </a:r>
            <a:r>
              <a:rPr lang="en-US" dirty="0" err="1"/>
              <a:t>mudah</a:t>
            </a:r>
            <a:r>
              <a:rPr lang="en-US" dirty="0"/>
              <a:t> </a:t>
            </a:r>
            <a:r>
              <a:rPr lang="en-US" dirty="0" err="1"/>
              <a:t>digunakan</a:t>
            </a:r>
            <a:endParaRPr lang="en-US" dirty="0"/>
          </a:p>
          <a:p>
            <a:r>
              <a:rPr lang="en-US" dirty="0" err="1"/>
              <a:t>CourtHub</a:t>
            </a:r>
            <a:r>
              <a:rPr lang="en-US" dirty="0"/>
              <a:t> </a:t>
            </a:r>
            <a:r>
              <a:rPr lang="en-US" dirty="0" err="1"/>
              <a:t>hadir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solusi</a:t>
            </a:r>
            <a:r>
              <a:rPr lang="en-US" dirty="0"/>
              <a:t> digital </a:t>
            </a:r>
            <a:r>
              <a:rPr lang="en-US" dirty="0" err="1"/>
              <a:t>pemesanan</a:t>
            </a:r>
            <a:r>
              <a:rPr lang="en-US" dirty="0"/>
              <a:t> </a:t>
            </a:r>
            <a:r>
              <a:rPr lang="en-US" dirty="0" err="1"/>
              <a:t>lapangan</a:t>
            </a:r>
            <a:r>
              <a:rPr lang="en-US" dirty="0"/>
              <a:t> </a:t>
            </a:r>
            <a:r>
              <a:rPr lang="en-US" dirty="0" err="1"/>
              <a:t>olah</a:t>
            </a:r>
            <a:r>
              <a:rPr lang="en-US" dirty="0"/>
              <a:t> raga</a:t>
            </a:r>
            <a:r>
              <a:rPr lang="en-US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53336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41463-19BA-C56D-C2B5-CD727927C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IDENTIFIKASI MASALAH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6650C-3862-D8F5-B1DC-6E4F91C4F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11808"/>
            <a:ext cx="8915400" cy="439941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err="1"/>
              <a:t>Permasalahan</a:t>
            </a: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Jadwal</a:t>
            </a:r>
            <a:r>
              <a:rPr lang="en-US" dirty="0"/>
              <a:t> </a:t>
            </a:r>
            <a:r>
              <a:rPr lang="en-US" dirty="0" err="1"/>
              <a:t>lapangan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terintegrasi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Booking </a:t>
            </a:r>
            <a:r>
              <a:rPr lang="en-US" dirty="0" err="1"/>
              <a:t>masih</a:t>
            </a:r>
            <a:r>
              <a:rPr lang="en-US" dirty="0"/>
              <a:t> </a:t>
            </a:r>
            <a:r>
              <a:rPr lang="en-US" dirty="0" err="1"/>
              <a:t>melalui</a:t>
            </a:r>
            <a:r>
              <a:rPr lang="en-US" dirty="0"/>
              <a:t> </a:t>
            </a:r>
            <a:r>
              <a:rPr lang="en-US" dirty="0" err="1"/>
              <a:t>Telepon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WhatsApp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Kesalahan</a:t>
            </a:r>
            <a:r>
              <a:rPr lang="en-US" dirty="0"/>
              <a:t> </a:t>
            </a:r>
            <a:r>
              <a:rPr lang="en-US" dirty="0" err="1"/>
              <a:t>pencatatan</a:t>
            </a:r>
            <a:r>
              <a:rPr lang="en-US" dirty="0"/>
              <a:t> 	</a:t>
            </a:r>
            <a:r>
              <a:rPr lang="en-US" dirty="0" err="1"/>
              <a:t>reservasi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Sulit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Laporan</a:t>
            </a:r>
            <a:r>
              <a:rPr lang="en-US" dirty="0"/>
              <a:t> </a:t>
            </a:r>
            <a:r>
              <a:rPr lang="en-US" dirty="0" err="1"/>
              <a:t>Transaksi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tersedia</a:t>
            </a:r>
            <a:r>
              <a:rPr lang="en-US" dirty="0"/>
              <a:t> </a:t>
            </a:r>
            <a:r>
              <a:rPr lang="en-US" dirty="0" err="1"/>
              <a:t>pembayaran</a:t>
            </a:r>
            <a:r>
              <a:rPr lang="en-US" dirty="0"/>
              <a:t> </a:t>
            </a:r>
            <a:r>
              <a:rPr lang="en-US" dirty="0" err="1"/>
              <a:t>transaksi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digital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err="1"/>
              <a:t>Tujuan</a:t>
            </a:r>
            <a:r>
              <a:rPr lang="en-US" b="1" dirty="0"/>
              <a:t> </a:t>
            </a:r>
            <a:r>
              <a:rPr lang="en-US" b="1" dirty="0" err="1"/>
              <a:t>Penelitian</a:t>
            </a:r>
            <a:endParaRPr lang="en-US" b="1" dirty="0"/>
          </a:p>
          <a:p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reservasi</a:t>
            </a:r>
            <a:r>
              <a:rPr lang="en-US" dirty="0"/>
              <a:t> </a:t>
            </a:r>
            <a:r>
              <a:rPr lang="en-US" dirty="0" err="1"/>
              <a:t>lapangan</a:t>
            </a:r>
            <a:r>
              <a:rPr lang="en-US" dirty="0"/>
              <a:t> </a:t>
            </a:r>
            <a:r>
              <a:rPr lang="en-US" dirty="0" err="1"/>
              <a:t>berbasis</a:t>
            </a:r>
            <a:r>
              <a:rPr lang="en-US" dirty="0"/>
              <a:t> Web</a:t>
            </a:r>
          </a:p>
          <a:p>
            <a:r>
              <a:rPr lang="en-US" dirty="0" err="1"/>
              <a:t>Mempermudah</a:t>
            </a:r>
            <a:r>
              <a:rPr lang="en-US" dirty="0"/>
              <a:t> </a:t>
            </a:r>
            <a:r>
              <a:rPr lang="en-US" dirty="0" err="1"/>
              <a:t>pelanggan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booking</a:t>
            </a:r>
          </a:p>
          <a:p>
            <a:r>
              <a:rPr lang="en-US" dirty="0" err="1"/>
              <a:t>Mengurangi</a:t>
            </a:r>
            <a:r>
              <a:rPr lang="en-US" dirty="0"/>
              <a:t> </a:t>
            </a:r>
            <a:r>
              <a:rPr lang="en-US" dirty="0" err="1"/>
              <a:t>kesalahan</a:t>
            </a:r>
            <a:r>
              <a:rPr lang="en-US" dirty="0"/>
              <a:t> </a:t>
            </a:r>
            <a:r>
              <a:rPr lang="en-US" dirty="0" err="1"/>
              <a:t>pencatatan</a:t>
            </a:r>
            <a:endParaRPr lang="en-US" dirty="0"/>
          </a:p>
          <a:p>
            <a:r>
              <a:rPr lang="en-US" dirty="0" err="1"/>
              <a:t>Menyediakan</a:t>
            </a:r>
            <a:r>
              <a:rPr lang="en-US" dirty="0"/>
              <a:t> </a:t>
            </a:r>
            <a:r>
              <a:rPr lang="en-US" dirty="0" err="1"/>
              <a:t>laporan</a:t>
            </a:r>
            <a:r>
              <a:rPr lang="en-US" dirty="0"/>
              <a:t> </a:t>
            </a:r>
            <a:r>
              <a:rPr lang="en-US" dirty="0" err="1"/>
              <a:t>transaksi</a:t>
            </a:r>
            <a:endParaRPr lang="en-US" dirty="0"/>
          </a:p>
          <a:p>
            <a:r>
              <a:rPr lang="en-US" dirty="0" err="1"/>
              <a:t>Mendukung</a:t>
            </a:r>
            <a:r>
              <a:rPr lang="en-US" dirty="0"/>
              <a:t> </a:t>
            </a:r>
            <a:r>
              <a:rPr lang="en-US" dirty="0" err="1"/>
              <a:t>pengelolaan</a:t>
            </a:r>
            <a:r>
              <a:rPr lang="en-US" dirty="0"/>
              <a:t> </a:t>
            </a:r>
            <a:r>
              <a:rPr lang="en-US" dirty="0" err="1"/>
              <a:t>lapangan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digital</a:t>
            </a:r>
          </a:p>
          <a:p>
            <a:endParaRPr lang="en-US" dirty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36292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6BDE6-E0BB-C4D7-1D1B-2AF5F0F99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TEKNOLOGI YANG DIGUNAKAN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7C34C-1E17-1157-FD70-07A8A5680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10515600" cy="58292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TEKNOLOGI</a:t>
            </a:r>
          </a:p>
          <a:p>
            <a:pPr marL="0" indent="0">
              <a:buNone/>
            </a:pPr>
            <a:r>
              <a:rPr lang="en-US" b="1" dirty="0"/>
              <a:t> 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Contoh</a:t>
            </a:r>
            <a:r>
              <a:rPr lang="en-US" dirty="0"/>
              <a:t>:	</a:t>
            </a:r>
          </a:p>
          <a:p>
            <a:endParaRPr lang="en-US" dirty="0"/>
          </a:p>
          <a:p>
            <a:r>
              <a:rPr lang="en-US" dirty="0"/>
              <a:t>Framework </a:t>
            </a:r>
            <a:r>
              <a:rPr lang="en-US" dirty="0" err="1"/>
              <a:t>membantu</a:t>
            </a:r>
            <a:r>
              <a:rPr lang="en-US" dirty="0"/>
              <a:t> </a:t>
            </a:r>
            <a:r>
              <a:rPr lang="en-US" dirty="0" err="1"/>
              <a:t>pengembangan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terstruktur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konsep</a:t>
            </a:r>
            <a:r>
              <a:rPr lang="en-US" dirty="0"/>
              <a:t> MVC. 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CFE0C0E-A2A8-F657-B620-C3646B6EF1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6593289"/>
              </p:ext>
            </p:extLst>
          </p:nvPr>
        </p:nvGraphicFramePr>
        <p:xfrm>
          <a:off x="934720" y="2061802"/>
          <a:ext cx="6380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0">
                  <a:extLst>
                    <a:ext uri="{9D8B030D-6E8A-4147-A177-3AD203B41FA5}">
                      <a16:colId xmlns:a16="http://schemas.microsoft.com/office/drawing/2014/main" val="495782475"/>
                    </a:ext>
                  </a:extLst>
                </a:gridCol>
                <a:gridCol w="3535680">
                  <a:extLst>
                    <a:ext uri="{9D8B030D-6E8A-4147-A177-3AD203B41FA5}">
                      <a16:colId xmlns:a16="http://schemas.microsoft.com/office/drawing/2014/main" val="2750758615"/>
                    </a:ext>
                  </a:extLst>
                </a:gridCol>
              </a:tblGrid>
              <a:tr h="3318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KOMPONEN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TEKNOLOGI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055203"/>
                  </a:ext>
                </a:extLst>
              </a:tr>
              <a:tr h="331893">
                <a:tc>
                  <a:txBody>
                    <a:bodyPr/>
                    <a:lstStyle/>
                    <a:p>
                      <a:r>
                        <a:rPr lang="en-US" dirty="0"/>
                        <a:t>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Laravel 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4294306"/>
                  </a:ext>
                </a:extLst>
              </a:tr>
              <a:tr h="331893">
                <a:tc>
                  <a:txBody>
                    <a:bodyPr/>
                    <a:lstStyle/>
                    <a:p>
                      <a:r>
                        <a:rPr lang="en-US" dirty="0"/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MySQL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6225306"/>
                  </a:ext>
                </a:extLst>
              </a:tr>
              <a:tr h="331893">
                <a:tc>
                  <a:txBody>
                    <a:bodyPr/>
                    <a:lstStyle/>
                    <a:p>
                      <a:r>
                        <a:rPr lang="en-US" dirty="0"/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Bootstrap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891550"/>
                  </a:ext>
                </a:extLst>
              </a:tr>
              <a:tr h="331893">
                <a:tc>
                  <a:txBody>
                    <a:bodyPr/>
                    <a:lstStyle/>
                    <a:p>
                      <a:r>
                        <a:rPr lang="en-US" dirty="0"/>
                        <a:t>Bahasa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6741396"/>
                  </a:ext>
                </a:extLst>
              </a:tr>
              <a:tr h="331893">
                <a:tc>
                  <a:txBody>
                    <a:bodyPr/>
                    <a:lstStyle/>
                    <a:p>
                      <a:r>
                        <a:rPr lang="en-US" dirty="0"/>
                        <a:t>Client 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JavaScript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1731123"/>
                  </a:ext>
                </a:extLst>
              </a:tr>
              <a:tr h="331893">
                <a:tc>
                  <a:txBody>
                    <a:bodyPr/>
                    <a:lstStyle/>
                    <a:p>
                      <a:r>
                        <a:rPr lang="en-US" dirty="0"/>
                        <a:t>AJAX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jQuery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33267"/>
                  </a:ext>
                </a:extLst>
              </a:tr>
              <a:tr h="331893">
                <a:tc>
                  <a:txBody>
                    <a:bodyPr/>
                    <a:lstStyle/>
                    <a:p>
                      <a:r>
                        <a:rPr lang="en-US" dirty="0"/>
                        <a:t>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XAMPP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4330696"/>
                  </a:ext>
                </a:extLst>
              </a:tr>
              <a:tr h="331893">
                <a:tc>
                  <a:txBody>
                    <a:bodyPr/>
                    <a:lstStyle/>
                    <a:p>
                      <a:r>
                        <a:rPr lang="en-US" dirty="0"/>
                        <a:t>Version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3260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3353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6BDE6-E0BB-C4D7-1D1B-2AF5F0F99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METODE MVC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7C34C-1E17-1157-FD70-07A8A5680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6600"/>
            <a:ext cx="10515600" cy="58292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err="1"/>
              <a:t>Arsitektur</a:t>
            </a:r>
            <a:r>
              <a:rPr lang="en-US" b="1" dirty="0"/>
              <a:t> </a:t>
            </a:r>
            <a:r>
              <a:rPr lang="en-US" b="1" dirty="0" err="1"/>
              <a:t>Sistem</a:t>
            </a:r>
            <a:endParaRPr lang="en-US" b="1" dirty="0"/>
          </a:p>
          <a:p>
            <a:r>
              <a:rPr lang="en-US" dirty="0"/>
              <a:t> User</a:t>
            </a:r>
          </a:p>
          <a:p>
            <a:pPr marL="0" indent="0">
              <a:buNone/>
            </a:pPr>
            <a:r>
              <a:rPr lang="en-US" dirty="0"/>
              <a:t>          ↓</a:t>
            </a:r>
          </a:p>
          <a:p>
            <a:pPr marL="0" indent="0">
              <a:buNone/>
            </a:pPr>
            <a:r>
              <a:rPr lang="en-US" dirty="0"/>
              <a:t>     Controller</a:t>
            </a:r>
          </a:p>
          <a:p>
            <a:pPr marL="0" indent="0">
              <a:buNone/>
            </a:pPr>
            <a:r>
              <a:rPr lang="en-US" dirty="0"/>
              <a:t>          ↓</a:t>
            </a:r>
          </a:p>
          <a:p>
            <a:pPr marL="0" indent="0">
              <a:buNone/>
            </a:pPr>
            <a:r>
              <a:rPr lang="en-US" dirty="0"/>
              <a:t>     Model</a:t>
            </a:r>
          </a:p>
          <a:p>
            <a:pPr marL="0" indent="0">
              <a:buNone/>
            </a:pPr>
            <a:r>
              <a:rPr lang="en-US" dirty="0"/>
              <a:t>          ↓</a:t>
            </a:r>
          </a:p>
          <a:p>
            <a:pPr marL="0" indent="0">
              <a:buNone/>
            </a:pPr>
            <a:r>
              <a:rPr lang="en-US" dirty="0"/>
              <a:t>    Database</a:t>
            </a:r>
          </a:p>
          <a:p>
            <a:pPr marL="0" indent="0">
              <a:buNone/>
            </a:pPr>
            <a:r>
              <a:rPr lang="en-US" dirty="0"/>
              <a:t>          ↓</a:t>
            </a:r>
          </a:p>
          <a:p>
            <a:pPr marL="0" indent="0">
              <a:buNone/>
            </a:pPr>
            <a:r>
              <a:rPr lang="en-US" dirty="0"/>
              <a:t>      View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Konsep</a:t>
            </a:r>
            <a:r>
              <a:rPr lang="en-US" dirty="0"/>
              <a:t> MVC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memisahkan</a:t>
            </a:r>
            <a:r>
              <a:rPr lang="en-US" dirty="0"/>
              <a:t> </a:t>
            </a:r>
            <a:r>
              <a:rPr lang="en-US" dirty="0" err="1"/>
              <a:t>logika</a:t>
            </a:r>
            <a:r>
              <a:rPr lang="en-US" dirty="0"/>
              <a:t> program, </a:t>
            </a:r>
            <a:r>
              <a:rPr lang="en-US" dirty="0" err="1"/>
              <a:t>tampilan</a:t>
            </a:r>
            <a:r>
              <a:rPr lang="en-US" dirty="0"/>
              <a:t> dan data.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769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C011F-5187-DAC9-9C22-8346C96C2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741119" cy="1280890"/>
          </a:xfrm>
        </p:spPr>
        <p:txBody>
          <a:bodyPr>
            <a:normAutofit/>
          </a:bodyPr>
          <a:lstStyle/>
          <a:p>
            <a:r>
              <a:rPr lang="en-US" dirty="0"/>
              <a:t> USE CASE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A4431-3ECC-5F56-CE6D-BC91BB489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26464"/>
            <a:ext cx="8915400" cy="448475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AKTOR SISTEM:</a:t>
            </a:r>
          </a:p>
          <a:p>
            <a:pPr marL="0" indent="0">
              <a:buNone/>
            </a:pPr>
            <a:r>
              <a:rPr lang="en-US" b="1" dirty="0"/>
              <a:t>Admin </a:t>
            </a:r>
          </a:p>
          <a:p>
            <a:pPr marL="0" indent="0">
              <a:buNone/>
            </a:pP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:</a:t>
            </a:r>
          </a:p>
          <a:p>
            <a:r>
              <a:rPr lang="en-US" dirty="0"/>
              <a:t>Kelola </a:t>
            </a:r>
            <a:r>
              <a:rPr lang="en-US" dirty="0" err="1"/>
              <a:t>lapangan</a:t>
            </a:r>
            <a:endParaRPr lang="en-US" dirty="0"/>
          </a:p>
          <a:p>
            <a:r>
              <a:rPr lang="en-US" dirty="0"/>
              <a:t>Kelola booking</a:t>
            </a:r>
          </a:p>
          <a:p>
            <a:r>
              <a:rPr lang="en-US" dirty="0"/>
              <a:t>Kelola </a:t>
            </a:r>
            <a:r>
              <a:rPr lang="en-US" dirty="0" err="1"/>
              <a:t>pembayaran</a:t>
            </a:r>
            <a:endParaRPr lang="en-US" dirty="0"/>
          </a:p>
          <a:p>
            <a:r>
              <a:rPr lang="en-US" dirty="0" err="1"/>
              <a:t>Cetak</a:t>
            </a:r>
            <a:r>
              <a:rPr lang="en-US" dirty="0"/>
              <a:t> </a:t>
            </a:r>
            <a:r>
              <a:rPr lang="en-US" dirty="0" err="1"/>
              <a:t>laporan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Member</a:t>
            </a:r>
          </a:p>
          <a:p>
            <a:pPr marL="0" indent="0">
              <a:buNone/>
            </a:pPr>
            <a:r>
              <a:rPr lang="en-US" dirty="0" err="1"/>
              <a:t>Digunakan</a:t>
            </a:r>
            <a:r>
              <a:rPr lang="en-US" dirty="0"/>
              <a:t>  </a:t>
            </a:r>
            <a:r>
              <a:rPr lang="en-US" dirty="0" err="1"/>
              <a:t>untuk</a:t>
            </a:r>
            <a:r>
              <a:rPr lang="en-US" dirty="0"/>
              <a:t> :</a:t>
            </a:r>
          </a:p>
          <a:p>
            <a:r>
              <a:rPr lang="en-US" dirty="0" err="1"/>
              <a:t>Registrasi</a:t>
            </a:r>
            <a:endParaRPr lang="en-US" dirty="0"/>
          </a:p>
          <a:p>
            <a:r>
              <a:rPr lang="en-US" dirty="0"/>
              <a:t>Login</a:t>
            </a:r>
          </a:p>
          <a:p>
            <a:r>
              <a:rPr lang="en-US" dirty="0"/>
              <a:t>Booking </a:t>
            </a:r>
            <a:r>
              <a:rPr lang="en-US" dirty="0" err="1"/>
              <a:t>lapangan</a:t>
            </a:r>
            <a:endParaRPr lang="en-US" dirty="0"/>
          </a:p>
          <a:p>
            <a:r>
              <a:rPr lang="en-US" dirty="0"/>
              <a:t>Upload </a:t>
            </a:r>
            <a:r>
              <a:rPr lang="en-US" dirty="0" err="1"/>
              <a:t>Pembayaran</a:t>
            </a:r>
            <a:r>
              <a:rPr lang="en-US" dirty="0"/>
              <a:t> </a:t>
            </a:r>
          </a:p>
          <a:p>
            <a:r>
              <a:rPr lang="en-US" dirty="0" err="1"/>
              <a:t>Grafik</a:t>
            </a:r>
            <a:r>
              <a:rPr lang="en-US" dirty="0"/>
              <a:t> </a:t>
            </a:r>
            <a:r>
              <a:rPr lang="en-US" dirty="0" err="1"/>
              <a:t>Transaksi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9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C011F-5187-DAC9-9C22-8346C96C2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ERD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A4431-3ECC-5F56-CE6D-BC91BB489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3868" y="1304544"/>
            <a:ext cx="8915400" cy="513283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TABEL SISTEM</a:t>
            </a:r>
          </a:p>
          <a:p>
            <a:r>
              <a:rPr lang="en-US" dirty="0"/>
              <a:t>Users</a:t>
            </a:r>
          </a:p>
          <a:p>
            <a:r>
              <a:rPr lang="en-US" dirty="0"/>
              <a:t>Courts</a:t>
            </a:r>
          </a:p>
          <a:p>
            <a:r>
              <a:rPr lang="en-US" dirty="0"/>
              <a:t>Bookings</a:t>
            </a:r>
          </a:p>
          <a:p>
            <a:r>
              <a:rPr lang="en-US" dirty="0"/>
              <a:t>Payments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RELASI</a:t>
            </a:r>
          </a:p>
          <a:p>
            <a:pPr marL="0" indent="0">
              <a:buNone/>
            </a:pPr>
            <a:r>
              <a:rPr lang="en-US" b="1" dirty="0"/>
              <a:t>           User</a:t>
            </a:r>
          </a:p>
          <a:p>
            <a:pPr marL="0" indent="0">
              <a:buNone/>
            </a:pPr>
            <a:r>
              <a:rPr lang="en-US" b="1" dirty="0"/>
              <a:t>              │</a:t>
            </a:r>
          </a:p>
          <a:p>
            <a:pPr marL="0" indent="0">
              <a:buNone/>
            </a:pPr>
            <a:r>
              <a:rPr lang="en-US" b="1" dirty="0"/>
              <a:t>         Booking</a:t>
            </a:r>
          </a:p>
          <a:p>
            <a:pPr marL="0" indent="0">
              <a:buNone/>
            </a:pPr>
            <a:r>
              <a:rPr lang="en-US" b="1" dirty="0"/>
              <a:t>              │</a:t>
            </a:r>
          </a:p>
          <a:p>
            <a:pPr marL="0" indent="0">
              <a:buNone/>
            </a:pPr>
            <a:r>
              <a:rPr lang="en-US" b="1" dirty="0"/>
              <a:t>         Court</a:t>
            </a:r>
          </a:p>
          <a:p>
            <a:pPr marL="0" indent="0">
              <a:buNone/>
            </a:pPr>
            <a:r>
              <a:rPr lang="en-US" b="1" dirty="0"/>
              <a:t>              │</a:t>
            </a:r>
          </a:p>
          <a:p>
            <a:pPr marL="0" indent="0">
              <a:buNone/>
            </a:pPr>
            <a:r>
              <a:rPr lang="en-US" b="1" dirty="0"/>
              <a:t>       Payment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039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6047C-912C-D1A5-BFC5-D34BA90FA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STRUKTUR DATA BASE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Penjelasan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AF282-D24E-F13B-0D00-35BC448B3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Database </a:t>
            </a:r>
            <a:r>
              <a:rPr lang="en-US" b="1" dirty="0" err="1"/>
              <a:t>CourtHub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Users :</a:t>
            </a:r>
          </a:p>
          <a:p>
            <a:r>
              <a:rPr lang="en-US" dirty="0"/>
              <a:t>Id</a:t>
            </a:r>
          </a:p>
          <a:p>
            <a:r>
              <a:rPr lang="en-US" dirty="0"/>
              <a:t>name</a:t>
            </a:r>
          </a:p>
          <a:p>
            <a:r>
              <a:rPr lang="en-US" dirty="0"/>
              <a:t>email</a:t>
            </a:r>
          </a:p>
          <a:p>
            <a:r>
              <a:rPr lang="en-US" dirty="0"/>
              <a:t>password</a:t>
            </a:r>
          </a:p>
          <a:p>
            <a:r>
              <a:rPr lang="en-US" dirty="0"/>
              <a:t>role</a:t>
            </a:r>
          </a:p>
          <a:p>
            <a:pPr marL="0" indent="0">
              <a:buNone/>
            </a:pPr>
            <a:r>
              <a:rPr lang="en-US" b="1" dirty="0" err="1"/>
              <a:t>Courst</a:t>
            </a:r>
            <a:r>
              <a:rPr lang="en-US" b="1" dirty="0"/>
              <a:t> :</a:t>
            </a:r>
          </a:p>
          <a:p>
            <a:r>
              <a:rPr lang="en-US" dirty="0" err="1"/>
              <a:t>nama_lapangan</a:t>
            </a:r>
            <a:endParaRPr lang="en-US" dirty="0"/>
          </a:p>
          <a:p>
            <a:r>
              <a:rPr lang="en-US" dirty="0" err="1"/>
              <a:t>jenis_olahraga</a:t>
            </a:r>
            <a:endParaRPr lang="en-US" dirty="0"/>
          </a:p>
          <a:p>
            <a:r>
              <a:rPr lang="en-US" dirty="0" err="1"/>
              <a:t>harga_per</a:t>
            </a:r>
            <a:r>
              <a:rPr lang="en-US" dirty="0"/>
              <a:t>-jam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803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6047C-912C-D1A5-BFC5-D34BA90FA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STRUKTUR DATA BASE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Penjelasan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AF282-D24E-F13B-0D00-35BC448B3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Bookings :</a:t>
            </a:r>
          </a:p>
          <a:p>
            <a:r>
              <a:rPr lang="en-US" dirty="0" err="1"/>
              <a:t>tanggal</a:t>
            </a:r>
            <a:endParaRPr lang="en-US" dirty="0"/>
          </a:p>
          <a:p>
            <a:r>
              <a:rPr lang="en-US" dirty="0" err="1"/>
              <a:t>jam_mulai</a:t>
            </a:r>
            <a:endParaRPr lang="en-US" dirty="0"/>
          </a:p>
          <a:p>
            <a:r>
              <a:rPr lang="en-US" dirty="0" err="1"/>
              <a:t>durasi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Payments :</a:t>
            </a:r>
          </a:p>
          <a:p>
            <a:r>
              <a:rPr lang="en-US" dirty="0" err="1"/>
              <a:t>metode</a:t>
            </a:r>
            <a:endParaRPr lang="en-US" dirty="0"/>
          </a:p>
          <a:p>
            <a:r>
              <a:rPr lang="en-US" dirty="0" err="1"/>
              <a:t>bukti_bayar</a:t>
            </a:r>
            <a:endParaRPr lang="en-US" dirty="0"/>
          </a:p>
          <a:p>
            <a:r>
              <a:rPr lang="en-US" dirty="0"/>
              <a:t>status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180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5288F-CDDB-D15C-6379-9AE3CEAD8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FITUR KEAMANAN SISTEM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917A4-F88A-40AA-C60F-F12BC1B02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329266"/>
            <a:ext cx="8915400" cy="5528734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6400" b="1" i="1" dirty="0"/>
              <a:t>WEB SECURITY</a:t>
            </a:r>
          </a:p>
          <a:p>
            <a:pPr marL="0" indent="0">
              <a:buNone/>
            </a:pPr>
            <a:r>
              <a:rPr lang="en-US" sz="6400" b="1" i="1" dirty="0"/>
              <a:t>Authentication :</a:t>
            </a:r>
          </a:p>
          <a:p>
            <a:r>
              <a:rPr lang="en-US" sz="6400" dirty="0"/>
              <a:t>Login</a:t>
            </a:r>
          </a:p>
          <a:p>
            <a:r>
              <a:rPr lang="en-US" sz="6400" dirty="0"/>
              <a:t>Logout</a:t>
            </a:r>
          </a:p>
          <a:p>
            <a:pPr marL="0" indent="0">
              <a:buNone/>
            </a:pPr>
            <a:r>
              <a:rPr lang="en-US" sz="6400" b="1" i="1" dirty="0"/>
              <a:t>Authorization :</a:t>
            </a:r>
          </a:p>
          <a:p>
            <a:r>
              <a:rPr lang="en-US" sz="6400" dirty="0"/>
              <a:t>Role Admin</a:t>
            </a:r>
          </a:p>
          <a:p>
            <a:r>
              <a:rPr lang="en-US" sz="6400" dirty="0"/>
              <a:t>Role Member</a:t>
            </a:r>
          </a:p>
          <a:p>
            <a:r>
              <a:rPr lang="en-US" sz="6400" dirty="0"/>
              <a:t>Password Hashing</a:t>
            </a:r>
          </a:p>
          <a:p>
            <a:pPr marL="0" indent="0">
              <a:buNone/>
            </a:pPr>
            <a:r>
              <a:rPr lang="en-US" sz="6400" dirty="0"/>
              <a:t>          PHP</a:t>
            </a:r>
          </a:p>
          <a:p>
            <a:pPr marL="0" indent="0">
              <a:buNone/>
            </a:pPr>
            <a:r>
              <a:rPr lang="en-US" sz="6400" dirty="0"/>
              <a:t>          Hash::make($password);</a:t>
            </a:r>
          </a:p>
          <a:p>
            <a:pPr marL="0" indent="0">
              <a:buNone/>
            </a:pPr>
            <a:r>
              <a:rPr lang="en-US" sz="6400" b="1" i="1" dirty="0"/>
              <a:t>MIDDLEWARE : </a:t>
            </a:r>
          </a:p>
          <a:p>
            <a:r>
              <a:rPr lang="en-US" sz="6400" dirty="0"/>
              <a:t>PHP </a:t>
            </a:r>
          </a:p>
          <a:p>
            <a:pPr marL="0" indent="0">
              <a:buNone/>
            </a:pPr>
            <a:r>
              <a:rPr lang="en-US" sz="6400" dirty="0"/>
              <a:t>          middleware('auth’);</a:t>
            </a:r>
          </a:p>
          <a:p>
            <a:pPr marL="0" indent="0">
              <a:buNone/>
            </a:pPr>
            <a:r>
              <a:rPr lang="en-US" sz="6400" b="1" i="1" dirty="0"/>
              <a:t>SESSION :</a:t>
            </a:r>
          </a:p>
          <a:p>
            <a:r>
              <a:rPr lang="en-US" sz="6400" dirty="0"/>
              <a:t>Session Login</a:t>
            </a:r>
          </a:p>
          <a:p>
            <a:r>
              <a:rPr lang="en-US" sz="6400" dirty="0"/>
              <a:t>Session Logout </a:t>
            </a:r>
          </a:p>
          <a:p>
            <a:pPr marL="0" indent="0">
              <a:buNone/>
            </a:pPr>
            <a:r>
              <a:rPr lang="en-US" sz="6400" dirty="0"/>
              <a:t>Fitur </a:t>
            </a:r>
            <a:r>
              <a:rPr lang="en-US" sz="6400" dirty="0" err="1"/>
              <a:t>keamanan</a:t>
            </a:r>
            <a:r>
              <a:rPr lang="en-US" sz="6400" dirty="0"/>
              <a:t> </a:t>
            </a:r>
            <a:r>
              <a:rPr lang="en-US" sz="6400" dirty="0" err="1"/>
              <a:t>merupakan</a:t>
            </a:r>
            <a:r>
              <a:rPr lang="en-US" sz="6400" dirty="0"/>
              <a:t> salah </a:t>
            </a:r>
            <a:r>
              <a:rPr lang="en-US" sz="6400" dirty="0" err="1"/>
              <a:t>satu</a:t>
            </a:r>
            <a:r>
              <a:rPr lang="en-US" sz="6400" dirty="0"/>
              <a:t> </a:t>
            </a:r>
            <a:r>
              <a:rPr lang="en-US" sz="6400" dirty="0" err="1"/>
              <a:t>komponen</a:t>
            </a:r>
            <a:r>
              <a:rPr lang="en-US" sz="6400" dirty="0"/>
              <a:t> </a:t>
            </a:r>
            <a:r>
              <a:rPr lang="en-US" sz="6400" dirty="0" err="1"/>
              <a:t>penilaian</a:t>
            </a:r>
            <a:r>
              <a:rPr lang="en-US" sz="6400" dirty="0"/>
              <a:t> </a:t>
            </a:r>
            <a:r>
              <a:rPr lang="en-US" sz="6400" dirty="0" err="1"/>
              <a:t>tugas</a:t>
            </a:r>
            <a:r>
              <a:rPr lang="en-US" sz="6400" dirty="0"/>
              <a:t> </a:t>
            </a:r>
            <a:r>
              <a:rPr lang="en-US" sz="6400" dirty="0" err="1"/>
              <a:t>besar</a:t>
            </a:r>
            <a:r>
              <a:rPr lang="en-US" sz="6400" dirty="0"/>
              <a:t> </a:t>
            </a:r>
            <a:r>
              <a:rPr lang="en-US" sz="6400" dirty="0" err="1"/>
              <a:t>ini</a:t>
            </a:r>
            <a:r>
              <a:rPr lang="en-US" sz="6400" dirty="0"/>
              <a:t>.</a:t>
            </a:r>
          </a:p>
          <a:p>
            <a:pPr marL="0" indent="0">
              <a:buNone/>
            </a:pPr>
            <a:endParaRPr lang="en-US" sz="6400" dirty="0"/>
          </a:p>
          <a:p>
            <a:pPr marL="0" indent="0">
              <a:buNone/>
            </a:pPr>
            <a:endParaRPr lang="en-US" sz="6400" dirty="0"/>
          </a:p>
          <a:p>
            <a:pPr marL="0" indent="0">
              <a:buNone/>
            </a:pPr>
            <a:r>
              <a:rPr lang="en-US" sz="6400" dirty="0"/>
              <a:t>      </a:t>
            </a:r>
          </a:p>
          <a:p>
            <a:pPr marL="0" indent="0">
              <a:buNone/>
            </a:pPr>
            <a:endParaRPr lang="en-US" sz="6400" dirty="0"/>
          </a:p>
          <a:p>
            <a:pPr marL="0" indent="0">
              <a:buNone/>
            </a:pPr>
            <a:endParaRPr lang="en-US" sz="64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735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3E7AB-31D4-FD65-BDBC-2C0EEDD3B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RESPONSIVE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A3156-D925-AC7E-9B2E-53CBB015D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82045"/>
            <a:ext cx="8915400" cy="3777622"/>
          </a:xfrm>
        </p:spPr>
        <p:txBody>
          <a:bodyPr/>
          <a:lstStyle/>
          <a:p>
            <a:pPr marL="0" indent="0">
              <a:buNone/>
            </a:pPr>
            <a:r>
              <a:rPr lang="en-US" b="1" i="1" dirty="0"/>
              <a:t>Desktop </a:t>
            </a:r>
          </a:p>
          <a:p>
            <a:r>
              <a:rPr lang="en-US" dirty="0" err="1"/>
              <a:t>ukuran</a:t>
            </a:r>
            <a:r>
              <a:rPr lang="en-US" dirty="0"/>
              <a:t> 1920 x 1080</a:t>
            </a:r>
          </a:p>
          <a:p>
            <a:pPr marL="0" indent="0">
              <a:buNone/>
            </a:pPr>
            <a:r>
              <a:rPr lang="en-US" b="1" i="1" dirty="0"/>
              <a:t>Tablet</a:t>
            </a:r>
          </a:p>
          <a:p>
            <a:r>
              <a:rPr lang="en-US" dirty="0" err="1"/>
              <a:t>ukuran</a:t>
            </a:r>
            <a:r>
              <a:rPr lang="en-US" dirty="0"/>
              <a:t> 768 X 1024</a:t>
            </a:r>
          </a:p>
          <a:p>
            <a:pPr marL="0" indent="0">
              <a:buNone/>
            </a:pPr>
            <a:r>
              <a:rPr lang="en-US" b="1" i="1" dirty="0"/>
              <a:t>Smartphone :</a:t>
            </a:r>
          </a:p>
          <a:p>
            <a:r>
              <a:rPr lang="en-US" dirty="0" err="1"/>
              <a:t>ukuran</a:t>
            </a:r>
            <a:r>
              <a:rPr lang="en-US" dirty="0"/>
              <a:t> 360 X 800</a:t>
            </a:r>
          </a:p>
          <a:p>
            <a:endParaRPr lang="en-US" dirty="0"/>
          </a:p>
          <a:p>
            <a:pPr marL="0" indent="0" algn="just">
              <a:buNone/>
            </a:pPr>
            <a:r>
              <a:rPr lang="en-US" dirty="0"/>
              <a:t>Bootstrap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menghasilkan</a:t>
            </a:r>
            <a:r>
              <a:rPr lang="en-US" dirty="0"/>
              <a:t> layout responsive pada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ukuran</a:t>
            </a:r>
            <a:r>
              <a:rPr lang="en-US" dirty="0"/>
              <a:t> </a:t>
            </a:r>
            <a:r>
              <a:rPr lang="en-US" dirty="0" err="1"/>
              <a:t>perangkat</a:t>
            </a:r>
            <a:r>
              <a:rPr lang="en-US" dirty="0"/>
              <a:t>, </a:t>
            </a:r>
            <a:r>
              <a:rPr lang="en-US" dirty="0" err="1"/>
              <a:t>Mahasiswa</a:t>
            </a:r>
            <a:r>
              <a:rPr lang="en-US" dirty="0"/>
              <a:t> </a:t>
            </a:r>
            <a:r>
              <a:rPr lang="en-US" dirty="0" err="1"/>
              <a:t>diharapkan</a:t>
            </a:r>
            <a:r>
              <a:rPr lang="en-US" dirty="0"/>
              <a:t> </a:t>
            </a:r>
            <a:r>
              <a:rPr lang="en-US" dirty="0" err="1"/>
              <a:t>mampu</a:t>
            </a:r>
            <a:r>
              <a:rPr lang="en-US" dirty="0"/>
              <a:t> </a:t>
            </a:r>
            <a:r>
              <a:rPr lang="en-US" dirty="0" err="1"/>
              <a:t>menganalisis</a:t>
            </a:r>
            <a:r>
              <a:rPr lang="en-US" dirty="0"/>
              <a:t> layout dan </a:t>
            </a:r>
            <a:r>
              <a:rPr lang="en-US" dirty="0" err="1"/>
              <a:t>estetika</a:t>
            </a:r>
            <a:r>
              <a:rPr lang="en-US" dirty="0"/>
              <a:t> web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Boostrap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988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44F94-F6D8-24A7-8ACF-305E9C8FC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IMPLEMENTASI JAVASCRIPT </a:t>
            </a:r>
            <a:br>
              <a:rPr lang="en-US" dirty="0"/>
            </a:br>
            <a:r>
              <a:rPr lang="en-US" dirty="0"/>
              <a:t>DAN JQUERY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1D773-7762-F840-5D2F-882B48DBB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b="1" i="1" dirty="0" err="1"/>
              <a:t>Javascript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mengatur</a:t>
            </a:r>
            <a:r>
              <a:rPr lang="en-US" dirty="0"/>
              <a:t> </a:t>
            </a:r>
            <a:r>
              <a:rPr lang="en-US" dirty="0" err="1"/>
              <a:t>perilaku</a:t>
            </a:r>
            <a:r>
              <a:rPr lang="en-US" dirty="0"/>
              <a:t> dan </a:t>
            </a:r>
            <a:r>
              <a:rPr lang="en-US" dirty="0" err="1"/>
              <a:t>interaktivitas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 web. JavaScript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penting</a:t>
            </a:r>
            <a:r>
              <a:rPr lang="en-US" dirty="0"/>
              <a:t> </a:t>
            </a:r>
            <a:r>
              <a:rPr lang="en-US" dirty="0" err="1"/>
              <a:t>setelah</a:t>
            </a:r>
            <a:r>
              <a:rPr lang="en-US" dirty="0"/>
              <a:t> HTML dan CSS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pengembangan</a:t>
            </a:r>
            <a:r>
              <a:rPr lang="en-US" dirty="0"/>
              <a:t> Web.</a:t>
            </a:r>
          </a:p>
          <a:p>
            <a:pPr marL="0" indent="0" algn="just">
              <a:buNone/>
            </a:pPr>
            <a:r>
              <a:rPr lang="en-US" dirty="0"/>
              <a:t>     </a:t>
            </a:r>
            <a:r>
              <a:rPr lang="en-US" dirty="0" err="1"/>
              <a:t>contoh</a:t>
            </a:r>
            <a:r>
              <a:rPr lang="en-US" dirty="0"/>
              <a:t> : </a:t>
            </a:r>
          </a:p>
          <a:p>
            <a:pPr marL="0" indent="0" algn="just">
              <a:buNone/>
            </a:pPr>
            <a:r>
              <a:rPr lang="en-US" dirty="0"/>
              <a:t>      function </a:t>
            </a:r>
            <a:r>
              <a:rPr lang="en-US" dirty="0" err="1"/>
              <a:t>hitungTotal</a:t>
            </a:r>
            <a:r>
              <a:rPr lang="en-US" dirty="0"/>
              <a:t>()</a:t>
            </a:r>
          </a:p>
          <a:p>
            <a:pPr marL="0" indent="0" algn="just">
              <a:buNone/>
            </a:pPr>
            <a:r>
              <a:rPr lang="en-US" dirty="0"/>
              <a:t>      {</a:t>
            </a:r>
          </a:p>
          <a:p>
            <a:pPr marL="0" indent="0" algn="just">
              <a:buNone/>
            </a:pPr>
            <a:r>
              <a:rPr lang="en-US" dirty="0"/>
              <a:t>           total = </a:t>
            </a:r>
            <a:r>
              <a:rPr lang="en-US" dirty="0" err="1"/>
              <a:t>harga</a:t>
            </a:r>
            <a:r>
              <a:rPr lang="en-US" dirty="0"/>
              <a:t> * </a:t>
            </a:r>
            <a:r>
              <a:rPr lang="en-US" dirty="0" err="1"/>
              <a:t>durasi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/>
              <a:t>      }</a:t>
            </a:r>
          </a:p>
          <a:p>
            <a:pPr algn="just"/>
            <a:r>
              <a:rPr lang="en-US" b="1" i="1" dirty="0"/>
              <a:t>jQuery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Validasi</a:t>
            </a:r>
            <a:r>
              <a:rPr lang="en-US" dirty="0"/>
              <a:t> form, AJAX, </a:t>
            </a:r>
            <a:r>
              <a:rPr lang="en-US" dirty="0" err="1"/>
              <a:t>Animasi</a:t>
            </a:r>
            <a:r>
              <a:rPr lang="en-US" dirty="0"/>
              <a:t>, </a:t>
            </a:r>
            <a:r>
              <a:rPr lang="en-US" dirty="0" err="1"/>
              <a:t>Efek</a:t>
            </a:r>
            <a:r>
              <a:rPr lang="en-US" dirty="0"/>
              <a:t> </a:t>
            </a:r>
            <a:r>
              <a:rPr lang="en-US" dirty="0" err="1"/>
              <a:t>interaktif</a:t>
            </a:r>
            <a:r>
              <a:rPr lang="en-US" dirty="0"/>
              <a:t>.</a:t>
            </a:r>
          </a:p>
          <a:p>
            <a:pPr marL="314325" indent="-314325" algn="just">
              <a:buNone/>
            </a:pPr>
            <a:r>
              <a:rPr lang="en-US" dirty="0"/>
              <a:t>     jQuery </a:t>
            </a:r>
            <a:r>
              <a:rPr lang="en-US" dirty="0" err="1"/>
              <a:t>mempermudah</a:t>
            </a:r>
            <a:r>
              <a:rPr lang="en-US" dirty="0"/>
              <a:t> </a:t>
            </a:r>
            <a:r>
              <a:rPr lang="en-US" dirty="0" err="1"/>
              <a:t>pembuatan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JavaScript dan </a:t>
            </a:r>
            <a:r>
              <a:rPr lang="en-US" dirty="0" err="1"/>
              <a:t>mempercepat</a:t>
            </a:r>
            <a:r>
              <a:rPr lang="en-US" dirty="0"/>
              <a:t> </a:t>
            </a:r>
            <a:r>
              <a:rPr lang="en-US" dirty="0" err="1"/>
              <a:t>pengembangan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web.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800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AE30A-DB51-3CC3-A867-E96A6F0C4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040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FITUR SISTEM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05126-38AC-0CDF-1D1B-262ADB961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911" y="1358901"/>
            <a:ext cx="10515600" cy="54990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 </a:t>
            </a:r>
            <a:endParaRPr lang="en-US" b="1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FITUR UTAMA </a:t>
            </a:r>
          </a:p>
          <a:p>
            <a:pPr marL="0" indent="0">
              <a:buNone/>
            </a:pPr>
            <a:r>
              <a:rPr lang="en-US" dirty="0" err="1">
                <a:sym typeface="Wingdings" pitchFamily="2" charset="2"/>
              </a:rPr>
              <a:t>Terdiri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dari</a:t>
            </a:r>
            <a:r>
              <a:rPr lang="en-US" dirty="0">
                <a:sym typeface="Wingdings" pitchFamily="2" charset="2"/>
              </a:rPr>
              <a:t> : </a:t>
            </a:r>
          </a:p>
          <a:p>
            <a:r>
              <a:rPr lang="en-US" dirty="0">
                <a:sym typeface="Wingdings" pitchFamily="2" charset="2"/>
              </a:rPr>
              <a:t>Login</a:t>
            </a:r>
          </a:p>
          <a:p>
            <a:r>
              <a:rPr lang="en-US" dirty="0">
                <a:sym typeface="Wingdings" pitchFamily="2" charset="2"/>
              </a:rPr>
              <a:t>Register</a:t>
            </a:r>
          </a:p>
          <a:p>
            <a:r>
              <a:rPr lang="en-US" dirty="0">
                <a:sym typeface="Wingdings" pitchFamily="2" charset="2"/>
              </a:rPr>
              <a:t>CRUD </a:t>
            </a:r>
            <a:r>
              <a:rPr lang="en-US" dirty="0" err="1">
                <a:sym typeface="Wingdings" pitchFamily="2" charset="2"/>
              </a:rPr>
              <a:t>Lapangan</a:t>
            </a:r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Booking Online</a:t>
            </a:r>
          </a:p>
          <a:p>
            <a:r>
              <a:rPr lang="en-US" dirty="0">
                <a:sym typeface="Wingdings" pitchFamily="2" charset="2"/>
              </a:rPr>
              <a:t>Upload </a:t>
            </a:r>
            <a:r>
              <a:rPr lang="en-US" dirty="0" err="1">
                <a:sym typeface="Wingdings" pitchFamily="2" charset="2"/>
              </a:rPr>
              <a:t>Pembayaran</a:t>
            </a:r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Riwayat Booking</a:t>
            </a:r>
          </a:p>
          <a:p>
            <a:r>
              <a:rPr lang="en-US" dirty="0">
                <a:sym typeface="Wingdings" pitchFamily="2" charset="2"/>
              </a:rPr>
              <a:t>Dashboard </a:t>
            </a:r>
          </a:p>
          <a:p>
            <a:r>
              <a:rPr lang="en-US" dirty="0" err="1">
                <a:sym typeface="Wingdings" pitchFamily="2" charset="2"/>
              </a:rPr>
              <a:t>Laporan</a:t>
            </a:r>
            <a:r>
              <a:rPr lang="en-US" dirty="0">
                <a:sym typeface="Wingdings" pitchFamily="2" charset="2"/>
              </a:rPr>
              <a:t> PDF</a:t>
            </a:r>
          </a:p>
          <a:p>
            <a:r>
              <a:rPr lang="en-US" dirty="0" err="1">
                <a:sym typeface="Wingdings" pitchFamily="2" charset="2"/>
              </a:rPr>
              <a:t>Grafik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Transaksi</a:t>
            </a:r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AJAX</a:t>
            </a:r>
          </a:p>
          <a:p>
            <a:r>
              <a:rPr lang="en-US" dirty="0">
                <a:sym typeface="Wingdings" pitchFamily="2" charset="2"/>
              </a:rPr>
              <a:t>SPA</a:t>
            </a: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051920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AFBE8-17E0-21F0-3B1D-536C799B6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89"/>
            <a:ext cx="10515600" cy="1325563"/>
          </a:xfrm>
        </p:spPr>
        <p:txBody>
          <a:bodyPr/>
          <a:lstStyle/>
          <a:p>
            <a:pPr algn="ctr"/>
            <a:br>
              <a:rPr lang="en-US" dirty="0"/>
            </a:br>
            <a:r>
              <a:rPr lang="en-US" dirty="0"/>
              <a:t>TAMPILAN HOME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EF21A-9C5B-9176-0FC6-075C762E4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6956" y="1028701"/>
            <a:ext cx="10515600" cy="373837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HALAMAN UTAMA </a:t>
            </a:r>
          </a:p>
          <a:p>
            <a:pPr marL="0" indent="0">
              <a:buNone/>
            </a:pPr>
            <a:r>
              <a:rPr lang="en-US" sz="1600" dirty="0" err="1"/>
              <a:t>Terdiri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:</a:t>
            </a:r>
          </a:p>
          <a:p>
            <a:r>
              <a:rPr lang="en-US" sz="1600" dirty="0"/>
              <a:t>Banner </a:t>
            </a:r>
            <a:r>
              <a:rPr lang="en-US" sz="1600" dirty="0" err="1"/>
              <a:t>CourtHub</a:t>
            </a:r>
            <a:endParaRPr lang="en-US" sz="1600" dirty="0"/>
          </a:p>
          <a:p>
            <a:r>
              <a:rPr lang="en-US" sz="1600" dirty="0"/>
              <a:t>Daftar </a:t>
            </a:r>
            <a:r>
              <a:rPr lang="en-US" sz="1600" dirty="0" err="1"/>
              <a:t>Lapangan</a:t>
            </a:r>
            <a:endParaRPr lang="en-US" sz="1600" dirty="0"/>
          </a:p>
          <a:p>
            <a:r>
              <a:rPr lang="en-US" sz="1600" dirty="0"/>
              <a:t>Harga </a:t>
            </a:r>
            <a:r>
              <a:rPr lang="en-US" sz="1600" dirty="0" err="1"/>
              <a:t>Sewa</a:t>
            </a:r>
            <a:endParaRPr lang="en-US" sz="1600" dirty="0"/>
          </a:p>
          <a:p>
            <a:r>
              <a:rPr lang="en-US" sz="1600" dirty="0" err="1"/>
              <a:t>Jadwal</a:t>
            </a:r>
            <a:r>
              <a:rPr lang="en-US" sz="1600" dirty="0"/>
              <a:t> </a:t>
            </a:r>
            <a:r>
              <a:rPr lang="en-US" sz="1600" dirty="0" err="1"/>
              <a:t>Lapangan</a:t>
            </a:r>
            <a:endParaRPr lang="en-US" sz="1600" dirty="0"/>
          </a:p>
          <a:p>
            <a:r>
              <a:rPr lang="en-US" sz="1600" dirty="0" err="1"/>
              <a:t>Tombol</a:t>
            </a:r>
            <a:r>
              <a:rPr lang="en-US" sz="1600" dirty="0"/>
              <a:t> Booking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HTML , CSS dan Bootstrap </a:t>
            </a:r>
            <a:r>
              <a:rPr lang="en-US" sz="1600" dirty="0" err="1"/>
              <a:t>digunakan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menghasilkan</a:t>
            </a:r>
            <a:r>
              <a:rPr lang="en-US" sz="1600" dirty="0"/>
              <a:t> </a:t>
            </a:r>
            <a:r>
              <a:rPr lang="en-US" sz="1600" dirty="0" err="1"/>
              <a:t>tampilan</a:t>
            </a:r>
            <a:r>
              <a:rPr lang="en-US" sz="1600" dirty="0"/>
              <a:t> yang </a:t>
            </a:r>
            <a:r>
              <a:rPr lang="en-US" sz="1600" dirty="0" err="1"/>
              <a:t>menarik</a:t>
            </a:r>
            <a:r>
              <a:rPr lang="en-US" sz="1600" dirty="0"/>
              <a:t> dan </a:t>
            </a:r>
            <a:r>
              <a:rPr lang="en-US" sz="1600" dirty="0" err="1"/>
              <a:t>responsif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5416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7F4D8-BDF1-2703-0206-8396F0764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TAMPILAN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F9802-D9BA-F1BA-D91E-B6D5F32D6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9458" y="1761066"/>
            <a:ext cx="8569630" cy="40057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dirty="0"/>
              <a:t>Dashboard Admin </a:t>
            </a:r>
          </a:p>
          <a:p>
            <a:pPr marL="0" indent="0">
              <a:buNone/>
            </a:pP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:</a:t>
            </a:r>
          </a:p>
          <a:p>
            <a:r>
              <a:rPr lang="en-US" dirty="0"/>
              <a:t>Total User</a:t>
            </a:r>
          </a:p>
          <a:p>
            <a:r>
              <a:rPr lang="en-US" dirty="0"/>
              <a:t>Total Booking</a:t>
            </a:r>
          </a:p>
          <a:p>
            <a:r>
              <a:rPr lang="en-US" dirty="0"/>
              <a:t>Total </a:t>
            </a:r>
            <a:r>
              <a:rPr lang="en-US" dirty="0" err="1"/>
              <a:t>Pendapatan</a:t>
            </a:r>
            <a:endParaRPr lang="en-US" dirty="0"/>
          </a:p>
          <a:p>
            <a:r>
              <a:rPr lang="en-US" dirty="0" err="1"/>
              <a:t>Grafik</a:t>
            </a:r>
            <a:r>
              <a:rPr lang="en-US" dirty="0"/>
              <a:t> </a:t>
            </a:r>
            <a:r>
              <a:rPr lang="en-US" dirty="0" err="1"/>
              <a:t>Transaksi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 err="1"/>
              <a:t>Boostrap</a:t>
            </a:r>
            <a:r>
              <a:rPr lang="en-US" dirty="0"/>
              <a:t> </a:t>
            </a:r>
            <a:r>
              <a:rPr lang="en-US" dirty="0" err="1"/>
              <a:t>membantu</a:t>
            </a:r>
            <a:r>
              <a:rPr lang="en-US" dirty="0"/>
              <a:t> </a:t>
            </a:r>
            <a:r>
              <a:rPr lang="en-US" dirty="0" err="1"/>
              <a:t>menghasilkan</a:t>
            </a:r>
            <a:r>
              <a:rPr lang="en-US" dirty="0"/>
              <a:t> layout </a:t>
            </a:r>
            <a:r>
              <a:rPr lang="en-US" dirty="0" err="1"/>
              <a:t>responsif</a:t>
            </a:r>
            <a:r>
              <a:rPr lang="en-US" dirty="0"/>
              <a:t> pada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ukuran</a:t>
            </a:r>
            <a:r>
              <a:rPr lang="en-US" dirty="0"/>
              <a:t> </a:t>
            </a:r>
            <a:r>
              <a:rPr lang="en-US" dirty="0" err="1"/>
              <a:t>perangkat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9084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7F4D8-BDF1-2703-0206-8396F0764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AJAX DAN SPA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F9802-D9BA-F1BA-D91E-B6D5F32D6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9970" y="1653532"/>
            <a:ext cx="9764641" cy="467411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err="1"/>
              <a:t>Implementasi</a:t>
            </a:r>
            <a:r>
              <a:rPr lang="en-US" b="1" dirty="0"/>
              <a:t> AJAX</a:t>
            </a:r>
            <a:endParaRPr lang="en-US" dirty="0"/>
          </a:p>
          <a:p>
            <a:r>
              <a:rPr lang="en-US" dirty="0"/>
              <a:t>Update </a:t>
            </a:r>
            <a:r>
              <a:rPr lang="en-US" dirty="0" err="1"/>
              <a:t>jadwal</a:t>
            </a:r>
            <a:r>
              <a:rPr lang="en-US" dirty="0"/>
              <a:t> </a:t>
            </a:r>
            <a:r>
              <a:rPr lang="en-US" dirty="0" err="1"/>
              <a:t>tanpa</a:t>
            </a:r>
            <a:r>
              <a:rPr lang="en-US" dirty="0"/>
              <a:t> reload</a:t>
            </a:r>
          </a:p>
          <a:p>
            <a:r>
              <a:rPr lang="en-US" dirty="0"/>
              <a:t>Cek </a:t>
            </a:r>
            <a:r>
              <a:rPr lang="en-US" dirty="0" err="1"/>
              <a:t>ketersediaan</a:t>
            </a:r>
            <a:r>
              <a:rPr lang="en-US" dirty="0"/>
              <a:t> </a:t>
            </a:r>
            <a:r>
              <a:rPr lang="en-US" dirty="0" err="1"/>
              <a:t>lapangan</a:t>
            </a:r>
            <a:endParaRPr lang="en-US" dirty="0"/>
          </a:p>
          <a:p>
            <a:r>
              <a:rPr lang="en-US" dirty="0" err="1"/>
              <a:t>Notifikasi</a:t>
            </a:r>
            <a:r>
              <a:rPr lang="en-US" dirty="0"/>
              <a:t> booking</a:t>
            </a:r>
          </a:p>
          <a:p>
            <a:pPr marL="0" indent="0">
              <a:buNone/>
            </a:pPr>
            <a:r>
              <a:rPr lang="en-US" dirty="0"/>
              <a:t>AJAX </a:t>
            </a:r>
            <a:r>
              <a:rPr lang="en-US" dirty="0" err="1"/>
              <a:t>mampu</a:t>
            </a:r>
            <a:r>
              <a:rPr lang="en-US" dirty="0"/>
              <a:t> </a:t>
            </a:r>
            <a:r>
              <a:rPr lang="en-US" dirty="0" err="1"/>
              <a:t>memperbarui</a:t>
            </a:r>
            <a:r>
              <a:rPr lang="en-US" dirty="0"/>
              <a:t> data </a:t>
            </a:r>
            <a:r>
              <a:rPr lang="en-US" dirty="0" err="1"/>
              <a:t>tanpa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reload </a:t>
            </a:r>
            <a:r>
              <a:rPr lang="en-US" dirty="0" err="1"/>
              <a:t>halaman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="1" i="1" dirty="0"/>
              <a:t>Single Page Application (SPA) </a:t>
            </a:r>
          </a:p>
          <a:p>
            <a:r>
              <a:rPr lang="en-US" dirty="0" err="1"/>
              <a:t>Navigasi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cepat</a:t>
            </a:r>
            <a:endParaRPr lang="en-US" dirty="0"/>
          </a:p>
          <a:p>
            <a:r>
              <a:rPr lang="en-US" dirty="0"/>
              <a:t>Halaman </a:t>
            </a:r>
            <a:r>
              <a:rPr lang="en-US" dirty="0" err="1"/>
              <a:t>tidak</a:t>
            </a:r>
            <a:r>
              <a:rPr lang="en-US" dirty="0"/>
              <a:t> refresh</a:t>
            </a:r>
          </a:p>
          <a:p>
            <a:r>
              <a:rPr lang="en-US" dirty="0"/>
              <a:t>User experience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baik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Konsep</a:t>
            </a:r>
            <a:r>
              <a:rPr lang="en-US" dirty="0"/>
              <a:t> SPA </a:t>
            </a:r>
            <a:r>
              <a:rPr lang="en-US" dirty="0" err="1"/>
              <a:t>memungkinkan</a:t>
            </a:r>
            <a:r>
              <a:rPr lang="en-US" dirty="0"/>
              <a:t> </a:t>
            </a:r>
            <a:r>
              <a:rPr lang="en-US" dirty="0" err="1"/>
              <a:t>perubahan</a:t>
            </a:r>
            <a:r>
              <a:rPr lang="en-US" dirty="0"/>
              <a:t> </a:t>
            </a:r>
            <a:r>
              <a:rPr lang="en-US" dirty="0" err="1"/>
              <a:t>konten</a:t>
            </a:r>
            <a:r>
              <a:rPr lang="en-US" dirty="0"/>
              <a:t> </a:t>
            </a:r>
            <a:r>
              <a:rPr lang="en-US" dirty="0" err="1"/>
              <a:t>tanpa</a:t>
            </a:r>
            <a:r>
              <a:rPr lang="en-US" dirty="0"/>
              <a:t> </a:t>
            </a:r>
            <a:r>
              <a:rPr lang="en-US" dirty="0" err="1"/>
              <a:t>memuat</a:t>
            </a:r>
            <a:r>
              <a:rPr lang="en-US" dirty="0"/>
              <a:t> </a:t>
            </a:r>
            <a:r>
              <a:rPr lang="en-US" dirty="0" err="1"/>
              <a:t>ulang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  </a:t>
            </a:r>
          </a:p>
          <a:p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0288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BD926-03DF-7C9A-844D-F7FB9AD04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HASIL PENGUJIAN SISTEM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3854D-0984-7B51-206D-557C34D7E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786749"/>
            <a:ext cx="8915400" cy="46510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Hasil </a:t>
            </a:r>
            <a:r>
              <a:rPr lang="en-US" b="1" dirty="0" err="1"/>
              <a:t>Pengujian</a:t>
            </a:r>
            <a:r>
              <a:rPr lang="en-US" b="1" dirty="0"/>
              <a:t> </a:t>
            </a:r>
            <a:r>
              <a:rPr lang="en-US" b="1" dirty="0" err="1"/>
              <a:t>Sistem</a:t>
            </a:r>
            <a:endParaRPr lang="en-US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4D30A61-96CC-5CC5-FF27-114C9B5D21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887464"/>
              </p:ext>
            </p:extLst>
          </p:nvPr>
        </p:nvGraphicFramePr>
        <p:xfrm>
          <a:off x="2679702" y="2369821"/>
          <a:ext cx="5482164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021">
                  <a:extLst>
                    <a:ext uri="{9D8B030D-6E8A-4147-A177-3AD203B41FA5}">
                      <a16:colId xmlns:a16="http://schemas.microsoft.com/office/drawing/2014/main" val="192753230"/>
                    </a:ext>
                  </a:extLst>
                </a:gridCol>
                <a:gridCol w="2784573">
                  <a:extLst>
                    <a:ext uri="{9D8B030D-6E8A-4147-A177-3AD203B41FA5}">
                      <a16:colId xmlns:a16="http://schemas.microsoft.com/office/drawing/2014/main" val="86320326"/>
                    </a:ext>
                  </a:extLst>
                </a:gridCol>
                <a:gridCol w="2114570">
                  <a:extLst>
                    <a:ext uri="{9D8B030D-6E8A-4147-A177-3AD203B41FA5}">
                      <a16:colId xmlns:a16="http://schemas.microsoft.com/office/drawing/2014/main" val="13395106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Pengujian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Hasil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124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Login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Berhasil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921139"/>
                  </a:ext>
                </a:extLst>
              </a:tr>
              <a:tr h="365477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Berhasil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066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Berhasil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628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Berhasil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063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Berhasil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604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Laporan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Berhasil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113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Responsif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Berhasil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028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Berhasil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05001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65798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3438C-77C8-C8DA-D96A-14EB5C54B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KESIMPULAN DAN SARAN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02471-4A6C-97D7-78E2-7B577E093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411109"/>
            <a:ext cx="8915400" cy="53622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Kesimpulan</a:t>
            </a:r>
          </a:p>
          <a:p>
            <a:pPr algn="just"/>
            <a:r>
              <a:rPr lang="en-US" sz="1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CourtHub</a:t>
            </a:r>
            <a:r>
              <a:rPr lang="en-US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berhasil</a:t>
            </a:r>
            <a:r>
              <a:rPr lang="en-US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dibangun</a:t>
            </a:r>
            <a:r>
              <a:rPr lang="en-US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sebagai</a:t>
            </a:r>
            <a:r>
              <a:rPr lang="en-US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aplikasi</a:t>
            </a:r>
            <a:r>
              <a:rPr lang="en-US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booking </a:t>
            </a:r>
            <a:r>
              <a:rPr lang="en-US" sz="1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lapangan</a:t>
            </a:r>
            <a:r>
              <a:rPr lang="en-US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olahraga</a:t>
            </a:r>
            <a:r>
              <a:rPr lang="en-US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berbasis</a:t>
            </a:r>
            <a:r>
              <a:rPr lang="en-US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web yang </a:t>
            </a:r>
            <a:r>
              <a:rPr lang="en-US" sz="1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mendukung</a:t>
            </a:r>
            <a:r>
              <a:rPr lang="en-US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reservasi</a:t>
            </a:r>
            <a:r>
              <a:rPr lang="en-US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padel</a:t>
            </a:r>
            <a:r>
              <a:rPr lang="en-US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futsal, dan badminton </a:t>
            </a:r>
            <a:r>
              <a:rPr lang="en-US" sz="1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secara</a:t>
            </a:r>
            <a:r>
              <a:rPr lang="en-US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online.</a:t>
            </a:r>
            <a:endParaRPr lang="en-ID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Sistem</a:t>
            </a:r>
            <a:r>
              <a:rPr lang="en-US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mampu</a:t>
            </a:r>
            <a:r>
              <a:rPr lang="en-US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mengelola</a:t>
            </a:r>
            <a:r>
              <a:rPr lang="en-US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ID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2925" lvl="0" indent="-228600" algn="just">
              <a:buFont typeface="Symbol" pitchFamily="2" charset="2"/>
              <a:buChar char=""/>
            </a:pPr>
            <a:r>
              <a:rPr lang="en-US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Data </a:t>
            </a:r>
            <a:r>
              <a:rPr lang="en-US" sz="1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Pengguna</a:t>
            </a:r>
            <a:endParaRPr lang="en-ID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2925" lvl="0" indent="-228600" algn="just">
              <a:buFont typeface="Symbol" pitchFamily="2" charset="2"/>
              <a:buChar char=""/>
            </a:pPr>
            <a:r>
              <a:rPr lang="en-US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Data </a:t>
            </a:r>
            <a:r>
              <a:rPr lang="en-US" sz="1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lapangan</a:t>
            </a:r>
            <a:endParaRPr lang="en-ID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2925" lvl="0" indent="-228600" algn="just">
              <a:buFont typeface="Symbol" pitchFamily="2" charset="2"/>
              <a:buChar char=""/>
            </a:pPr>
            <a:r>
              <a:rPr lang="en-US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Data booking</a:t>
            </a:r>
            <a:endParaRPr lang="en-ID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2925" lvl="0" indent="-228600" algn="just">
              <a:buFont typeface="Symbol" pitchFamily="2" charset="2"/>
              <a:buChar char=""/>
            </a:pPr>
            <a:r>
              <a:rPr lang="en-US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Data </a:t>
            </a:r>
            <a:r>
              <a:rPr lang="en-US" sz="1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pembayaran</a:t>
            </a:r>
            <a:endParaRPr lang="en-ID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2925" lvl="0" indent="-228600" algn="just">
              <a:buFont typeface="Symbol" pitchFamily="2" charset="2"/>
              <a:buChar char=""/>
            </a:pPr>
            <a:r>
              <a:rPr lang="en-US" sz="1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Laporan</a:t>
            </a:r>
            <a:r>
              <a:rPr lang="en-US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US" sz="1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Grafik</a:t>
            </a:r>
            <a:r>
              <a:rPr lang="en-US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Transaksi</a:t>
            </a:r>
            <a:endParaRPr lang="en-ID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Dengan</a:t>
            </a:r>
            <a:r>
              <a:rPr lang="en-US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menggunakan</a:t>
            </a:r>
            <a:r>
              <a:rPr lang="en-US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Laravel, Bootstrap, AJAX, dan MYSQL, </a:t>
            </a:r>
            <a:r>
              <a:rPr lang="en-US" sz="1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sistem</a:t>
            </a:r>
            <a:r>
              <a:rPr lang="en-US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menjadi</a:t>
            </a:r>
            <a:r>
              <a:rPr lang="en-US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lebih</a:t>
            </a:r>
            <a:r>
              <a:rPr lang="en-US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responsif</a:t>
            </a:r>
            <a:r>
              <a:rPr lang="en-US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aman</a:t>
            </a:r>
            <a:r>
              <a:rPr lang="en-US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dan </a:t>
            </a:r>
            <a:r>
              <a:rPr lang="en-US" sz="1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mudah</a:t>
            </a:r>
            <a:r>
              <a:rPr lang="en-US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digunakan</a:t>
            </a:r>
            <a:r>
              <a:rPr lang="en-US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Saran </a:t>
            </a:r>
            <a:r>
              <a:rPr lang="en-US" sz="1600" b="1" dirty="0" err="1"/>
              <a:t>Pengembangan</a:t>
            </a:r>
            <a:endParaRPr lang="en-US" sz="1600" b="1" dirty="0"/>
          </a:p>
          <a:p>
            <a:pPr marL="342900" lvl="0" indent="-342900" algn="just">
              <a:buFont typeface="+mj-lt"/>
              <a:buAutoNum type="arabicPeriod"/>
            </a:pPr>
            <a:r>
              <a:rPr lang="en-US" sz="1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Menambahkan</a:t>
            </a:r>
            <a:r>
              <a:rPr lang="en-US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payment gateway </a:t>
            </a:r>
            <a:r>
              <a:rPr lang="en-US" sz="1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otomatis</a:t>
            </a:r>
            <a:r>
              <a:rPr lang="en-US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D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n-US" sz="1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Menambahkan</a:t>
            </a:r>
            <a:r>
              <a:rPr lang="en-US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notifikasi</a:t>
            </a:r>
            <a:r>
              <a:rPr lang="en-US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WhatsApp.</a:t>
            </a:r>
            <a:endParaRPr lang="en-ID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n-US" sz="1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Mengembangkan</a:t>
            </a:r>
            <a:r>
              <a:rPr lang="en-US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aplikasi</a:t>
            </a:r>
            <a:r>
              <a:rPr lang="en-US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mobile Android dan iOS</a:t>
            </a:r>
            <a:r>
              <a:rPr lang="en-US" sz="1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D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D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600" i="1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0121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81794-281C-C010-9C54-F59B11B63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TERIMA KASIH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3731B-9B75-F875-0A10-5C1B7095D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00380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{56FD3E38-A6A9-9D4A-BDBD-F5343FA6FDC5}tf10001069</Template>
  <TotalTime>643</TotalTime>
  <Words>753</Words>
  <Application>Microsoft Macintosh PowerPoint</Application>
  <PresentationFormat>Widescreen</PresentationFormat>
  <Paragraphs>277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Century Gothic</vt:lpstr>
      <vt:lpstr>Symbol</vt:lpstr>
      <vt:lpstr>Wingdings 3</vt:lpstr>
      <vt:lpstr>Wisp</vt:lpstr>
      <vt:lpstr>TUGAS BESAR PEMROGRAMAN WEB  </vt:lpstr>
      <vt:lpstr>LATAR BELAKANG</vt:lpstr>
      <vt:lpstr>IDENTIFIKASI MASALAH</vt:lpstr>
      <vt:lpstr>TEKNOLOGI YANG DIGUNAKAN</vt:lpstr>
      <vt:lpstr>METODE MVC</vt:lpstr>
      <vt:lpstr> USE CASE DIAGRAM</vt:lpstr>
      <vt:lpstr>ERD DATABASE</vt:lpstr>
      <vt:lpstr>STRUKTUR DATA BASE (Penjelasan)</vt:lpstr>
      <vt:lpstr>STRUKTUR DATA BASE (Penjelasan)</vt:lpstr>
      <vt:lpstr>FITUR KEAMANAN SISTEM</vt:lpstr>
      <vt:lpstr>RESPONSIVE DESIGN</vt:lpstr>
      <vt:lpstr>IMPLEMENTASI JAVASCRIPT  DAN JQUERY</vt:lpstr>
      <vt:lpstr>FITUR SISTEM</vt:lpstr>
      <vt:lpstr> TAMPILAN HOME</vt:lpstr>
      <vt:lpstr>TAMPILAN DASHBOARD</vt:lpstr>
      <vt:lpstr>AJAX DAN SPA</vt:lpstr>
      <vt:lpstr>HASIL PENGUJIAN SISTEM</vt:lpstr>
      <vt:lpstr>KESIMPULAN DAN SARAN 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PROJECT PEMROGRAMAN JARINGAN KOMPUTER</dc:title>
  <dc:creator>Microsoft Office User</dc:creator>
  <cp:lastModifiedBy>Microsoft Office User</cp:lastModifiedBy>
  <cp:revision>23</cp:revision>
  <dcterms:created xsi:type="dcterms:W3CDTF">2026-06-12T09:16:14Z</dcterms:created>
  <dcterms:modified xsi:type="dcterms:W3CDTF">2026-06-29T07:00:44Z</dcterms:modified>
</cp:coreProperties>
</file>